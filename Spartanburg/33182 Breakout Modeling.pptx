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sldIdLst>
    <p:sldId id="256" r:id="rId3"/>
    <p:sldId id="257" r:id="rId4"/>
    <p:sldId id="260" r:id="rId5"/>
    <p:sldId id="258" r:id="rId6"/>
    <p:sldId id="259" r:id="rId7"/>
    <p:sldId id="267" r:id="rId8"/>
    <p:sldId id="268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225" autoAdjust="0"/>
  </p:normalViewPr>
  <p:slideViewPr>
    <p:cSldViewPr>
      <p:cViewPr varScale="1">
        <p:scale>
          <a:sx n="106" d="100"/>
          <a:sy n="106" d="100"/>
        </p:scale>
        <p:origin x="-176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9111D-7294-4D97-A2C4-8A4D5CAA8317}" type="datetimeFigureOut">
              <a:rPr lang="en-US" smtClean="0"/>
              <a:t>11/12/2015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69372-5BF6-4661-85D2-FE009D18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3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48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60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49162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64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256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96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364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71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71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31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398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63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3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8895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37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53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908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502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7671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1330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72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2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30175" y="914400"/>
            <a:ext cx="8934450" cy="158750"/>
            <a:chOff x="82" y="787"/>
            <a:chExt cx="5628" cy="100"/>
          </a:xfrm>
        </p:grpSpPr>
        <p:sp>
          <p:nvSpPr>
            <p:cNvPr id="1029" name="Freeform 3"/>
            <p:cNvSpPr>
              <a:spLocks/>
            </p:cNvSpPr>
            <p:nvPr/>
          </p:nvSpPr>
          <p:spPr bwMode="auto">
            <a:xfrm>
              <a:off x="82" y="78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330A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" name="Freeform 4"/>
            <p:cNvSpPr>
              <a:spLocks/>
            </p:cNvSpPr>
            <p:nvPr/>
          </p:nvSpPr>
          <p:spPr bwMode="auto">
            <a:xfrm>
              <a:off x="82" y="79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430B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" name="Freeform 5"/>
            <p:cNvSpPr>
              <a:spLocks/>
            </p:cNvSpPr>
            <p:nvPr/>
          </p:nvSpPr>
          <p:spPr bwMode="auto">
            <a:xfrm>
              <a:off x="82" y="79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834B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" name="Freeform 6"/>
            <p:cNvSpPr>
              <a:spLocks/>
            </p:cNvSpPr>
            <p:nvPr/>
          </p:nvSpPr>
          <p:spPr bwMode="auto">
            <a:xfrm>
              <a:off x="82" y="79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C38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Freeform 7"/>
            <p:cNvSpPr>
              <a:spLocks/>
            </p:cNvSpPr>
            <p:nvPr/>
          </p:nvSpPr>
          <p:spPr bwMode="auto">
            <a:xfrm>
              <a:off x="82" y="79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103C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Freeform 8"/>
            <p:cNvSpPr>
              <a:spLocks/>
            </p:cNvSpPr>
            <p:nvPr/>
          </p:nvSpPr>
          <p:spPr bwMode="auto">
            <a:xfrm>
              <a:off x="82" y="79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1440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9"/>
            <p:cNvSpPr>
              <a:spLocks/>
            </p:cNvSpPr>
            <p:nvPr/>
          </p:nvSpPr>
          <p:spPr bwMode="auto">
            <a:xfrm>
              <a:off x="82" y="79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1844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10"/>
            <p:cNvSpPr>
              <a:spLocks/>
            </p:cNvSpPr>
            <p:nvPr/>
          </p:nvSpPr>
          <p:spPr bwMode="auto">
            <a:xfrm>
              <a:off x="82" y="79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1C44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11"/>
            <p:cNvSpPr>
              <a:spLocks/>
            </p:cNvSpPr>
            <p:nvPr/>
          </p:nvSpPr>
          <p:spPr bwMode="auto">
            <a:xfrm>
              <a:off x="82" y="79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2048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12"/>
            <p:cNvSpPr>
              <a:spLocks/>
            </p:cNvSpPr>
            <p:nvPr/>
          </p:nvSpPr>
          <p:spPr bwMode="auto">
            <a:xfrm>
              <a:off x="82" y="80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244C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13"/>
            <p:cNvSpPr>
              <a:spLocks/>
            </p:cNvSpPr>
            <p:nvPr/>
          </p:nvSpPr>
          <p:spPr bwMode="auto">
            <a:xfrm>
              <a:off x="82" y="80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2850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14"/>
            <p:cNvSpPr>
              <a:spLocks/>
            </p:cNvSpPr>
            <p:nvPr/>
          </p:nvSpPr>
          <p:spPr bwMode="auto">
            <a:xfrm>
              <a:off x="82" y="80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2C54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15"/>
            <p:cNvSpPr>
              <a:spLocks/>
            </p:cNvSpPr>
            <p:nvPr/>
          </p:nvSpPr>
          <p:spPr bwMode="auto">
            <a:xfrm>
              <a:off x="82" y="805"/>
              <a:ext cx="5628" cy="1"/>
            </a:xfrm>
            <a:custGeom>
              <a:avLst/>
              <a:gdLst>
                <a:gd name="T0" fmla="*/ 0 w 5628"/>
                <a:gd name="T1" fmla="*/ 0 h 1"/>
                <a:gd name="T2" fmla="*/ 5627 w 5628"/>
                <a:gd name="T3" fmla="*/ 0 h 1"/>
                <a:gd name="T4" fmla="*/ 5627 w 5628"/>
                <a:gd name="T5" fmla="*/ 0 h 1"/>
                <a:gd name="T6" fmla="*/ 0 w 5628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28" h="1">
                  <a:moveTo>
                    <a:pt x="0" y="0"/>
                  </a:moveTo>
                  <a:lnTo>
                    <a:pt x="5627" y="0"/>
                  </a:lnTo>
                  <a:lnTo>
                    <a:pt x="0" y="0"/>
                  </a:lnTo>
                </a:path>
              </a:pathLst>
            </a:custGeom>
            <a:solidFill>
              <a:srgbClr val="3058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16"/>
            <p:cNvSpPr>
              <a:spLocks/>
            </p:cNvSpPr>
            <p:nvPr/>
          </p:nvSpPr>
          <p:spPr bwMode="auto">
            <a:xfrm>
              <a:off x="82" y="80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345CC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17"/>
            <p:cNvSpPr>
              <a:spLocks/>
            </p:cNvSpPr>
            <p:nvPr/>
          </p:nvSpPr>
          <p:spPr bwMode="auto">
            <a:xfrm>
              <a:off x="82" y="80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385CC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18"/>
            <p:cNvSpPr>
              <a:spLocks/>
            </p:cNvSpPr>
            <p:nvPr/>
          </p:nvSpPr>
          <p:spPr bwMode="auto">
            <a:xfrm>
              <a:off x="82" y="80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3C60C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19"/>
            <p:cNvSpPr>
              <a:spLocks/>
            </p:cNvSpPr>
            <p:nvPr/>
          </p:nvSpPr>
          <p:spPr bwMode="auto">
            <a:xfrm>
              <a:off x="82" y="80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4064C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6" name="Freeform 20"/>
            <p:cNvSpPr>
              <a:spLocks/>
            </p:cNvSpPr>
            <p:nvPr/>
          </p:nvSpPr>
          <p:spPr bwMode="auto">
            <a:xfrm>
              <a:off x="82" y="81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4468C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21"/>
            <p:cNvSpPr>
              <a:spLocks/>
            </p:cNvSpPr>
            <p:nvPr/>
          </p:nvSpPr>
          <p:spPr bwMode="auto">
            <a:xfrm>
              <a:off x="82" y="81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486CC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22"/>
            <p:cNvSpPr>
              <a:spLocks/>
            </p:cNvSpPr>
            <p:nvPr/>
          </p:nvSpPr>
          <p:spPr bwMode="auto">
            <a:xfrm>
              <a:off x="82" y="81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4C6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23"/>
            <p:cNvSpPr>
              <a:spLocks/>
            </p:cNvSpPr>
            <p:nvPr/>
          </p:nvSpPr>
          <p:spPr bwMode="auto">
            <a:xfrm>
              <a:off x="82" y="81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507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24"/>
            <p:cNvSpPr>
              <a:spLocks/>
            </p:cNvSpPr>
            <p:nvPr/>
          </p:nvSpPr>
          <p:spPr bwMode="auto">
            <a:xfrm>
              <a:off x="82" y="81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5474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25"/>
            <p:cNvSpPr>
              <a:spLocks/>
            </p:cNvSpPr>
            <p:nvPr/>
          </p:nvSpPr>
          <p:spPr bwMode="auto">
            <a:xfrm>
              <a:off x="82" y="81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5878D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26"/>
            <p:cNvSpPr>
              <a:spLocks/>
            </p:cNvSpPr>
            <p:nvPr/>
          </p:nvSpPr>
          <p:spPr bwMode="auto">
            <a:xfrm>
              <a:off x="82" y="81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5C7CD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27"/>
            <p:cNvSpPr>
              <a:spLocks/>
            </p:cNvSpPr>
            <p:nvPr/>
          </p:nvSpPr>
          <p:spPr bwMode="auto">
            <a:xfrm>
              <a:off x="82" y="81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607CD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28"/>
            <p:cNvSpPr>
              <a:spLocks/>
            </p:cNvSpPr>
            <p:nvPr/>
          </p:nvSpPr>
          <p:spPr bwMode="auto">
            <a:xfrm>
              <a:off x="82" y="82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6480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9"/>
            <p:cNvSpPr>
              <a:spLocks/>
            </p:cNvSpPr>
            <p:nvPr/>
          </p:nvSpPr>
          <p:spPr bwMode="auto">
            <a:xfrm>
              <a:off x="82" y="82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6884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30"/>
            <p:cNvSpPr>
              <a:spLocks/>
            </p:cNvSpPr>
            <p:nvPr/>
          </p:nvSpPr>
          <p:spPr bwMode="auto">
            <a:xfrm>
              <a:off x="82" y="82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6C88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31"/>
            <p:cNvSpPr>
              <a:spLocks/>
            </p:cNvSpPr>
            <p:nvPr/>
          </p:nvSpPr>
          <p:spPr bwMode="auto">
            <a:xfrm>
              <a:off x="82" y="82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708CD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8" name="Freeform 32"/>
            <p:cNvSpPr>
              <a:spLocks/>
            </p:cNvSpPr>
            <p:nvPr/>
          </p:nvSpPr>
          <p:spPr bwMode="auto">
            <a:xfrm>
              <a:off x="82" y="82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7490D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9" name="Freeform 33"/>
            <p:cNvSpPr>
              <a:spLocks/>
            </p:cNvSpPr>
            <p:nvPr/>
          </p:nvSpPr>
          <p:spPr bwMode="auto">
            <a:xfrm>
              <a:off x="82" y="82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7894D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0" name="Freeform 34"/>
            <p:cNvSpPr>
              <a:spLocks/>
            </p:cNvSpPr>
            <p:nvPr/>
          </p:nvSpPr>
          <p:spPr bwMode="auto">
            <a:xfrm>
              <a:off x="82" y="82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7C94D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1" name="Freeform 35"/>
            <p:cNvSpPr>
              <a:spLocks/>
            </p:cNvSpPr>
            <p:nvPr/>
          </p:nvSpPr>
          <p:spPr bwMode="auto">
            <a:xfrm>
              <a:off x="82" y="83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8098D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2" name="Freeform 36"/>
            <p:cNvSpPr>
              <a:spLocks/>
            </p:cNvSpPr>
            <p:nvPr/>
          </p:nvSpPr>
          <p:spPr bwMode="auto">
            <a:xfrm>
              <a:off x="82" y="83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849CD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3" name="Freeform 37"/>
            <p:cNvSpPr>
              <a:spLocks/>
            </p:cNvSpPr>
            <p:nvPr/>
          </p:nvSpPr>
          <p:spPr bwMode="auto">
            <a:xfrm>
              <a:off x="82" y="83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88A0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4" name="Freeform 38"/>
            <p:cNvSpPr>
              <a:spLocks/>
            </p:cNvSpPr>
            <p:nvPr/>
          </p:nvSpPr>
          <p:spPr bwMode="auto">
            <a:xfrm>
              <a:off x="82" y="83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8CA0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" name="Freeform 39"/>
            <p:cNvSpPr>
              <a:spLocks/>
            </p:cNvSpPr>
            <p:nvPr/>
          </p:nvSpPr>
          <p:spPr bwMode="auto">
            <a:xfrm>
              <a:off x="82" y="83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0A4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" name="Freeform 40"/>
            <p:cNvSpPr>
              <a:spLocks/>
            </p:cNvSpPr>
            <p:nvPr/>
          </p:nvSpPr>
          <p:spPr bwMode="auto">
            <a:xfrm>
              <a:off x="82" y="83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4A8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" name="Freeform 41"/>
            <p:cNvSpPr>
              <a:spLocks/>
            </p:cNvSpPr>
            <p:nvPr/>
          </p:nvSpPr>
          <p:spPr bwMode="auto">
            <a:xfrm>
              <a:off x="82" y="83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8ACE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" name="Freeform 42"/>
            <p:cNvSpPr>
              <a:spLocks/>
            </p:cNvSpPr>
            <p:nvPr/>
          </p:nvSpPr>
          <p:spPr bwMode="auto">
            <a:xfrm>
              <a:off x="82" y="83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CB0E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" name="Freeform 43"/>
            <p:cNvSpPr>
              <a:spLocks/>
            </p:cNvSpPr>
            <p:nvPr/>
          </p:nvSpPr>
          <p:spPr bwMode="auto">
            <a:xfrm>
              <a:off x="82" y="84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A0B4E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" name="Freeform 44"/>
            <p:cNvSpPr>
              <a:spLocks/>
            </p:cNvSpPr>
            <p:nvPr/>
          </p:nvSpPr>
          <p:spPr bwMode="auto">
            <a:xfrm>
              <a:off x="82" y="84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A4B4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" name="Freeform 45"/>
            <p:cNvSpPr>
              <a:spLocks/>
            </p:cNvSpPr>
            <p:nvPr/>
          </p:nvSpPr>
          <p:spPr bwMode="auto">
            <a:xfrm>
              <a:off x="82" y="84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A8B8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" name="Freeform 46"/>
            <p:cNvSpPr>
              <a:spLocks/>
            </p:cNvSpPr>
            <p:nvPr/>
          </p:nvSpPr>
          <p:spPr bwMode="auto">
            <a:xfrm>
              <a:off x="82" y="84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ACBC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" name="Freeform 47"/>
            <p:cNvSpPr>
              <a:spLocks/>
            </p:cNvSpPr>
            <p:nvPr/>
          </p:nvSpPr>
          <p:spPr bwMode="auto">
            <a:xfrm>
              <a:off x="82" y="84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B0C0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" name="Freeform 48"/>
            <p:cNvSpPr>
              <a:spLocks/>
            </p:cNvSpPr>
            <p:nvPr/>
          </p:nvSpPr>
          <p:spPr bwMode="auto">
            <a:xfrm>
              <a:off x="82" y="84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B4C4E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" name="Freeform 49"/>
            <p:cNvSpPr>
              <a:spLocks/>
            </p:cNvSpPr>
            <p:nvPr/>
          </p:nvSpPr>
          <p:spPr bwMode="auto">
            <a:xfrm>
              <a:off x="82" y="84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B8C4E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" name="Freeform 50"/>
            <p:cNvSpPr>
              <a:spLocks/>
            </p:cNvSpPr>
            <p:nvPr/>
          </p:nvSpPr>
          <p:spPr bwMode="auto">
            <a:xfrm>
              <a:off x="82" y="85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BCC8E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" name="Freeform 51"/>
            <p:cNvSpPr>
              <a:spLocks/>
            </p:cNvSpPr>
            <p:nvPr/>
          </p:nvSpPr>
          <p:spPr bwMode="auto">
            <a:xfrm>
              <a:off x="82" y="85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C0CCE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" name="Freeform 52"/>
            <p:cNvSpPr>
              <a:spLocks/>
            </p:cNvSpPr>
            <p:nvPr/>
          </p:nvSpPr>
          <p:spPr bwMode="auto">
            <a:xfrm>
              <a:off x="82" y="85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C4D0F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" name="Freeform 53"/>
            <p:cNvSpPr>
              <a:spLocks/>
            </p:cNvSpPr>
            <p:nvPr/>
          </p:nvSpPr>
          <p:spPr bwMode="auto">
            <a:xfrm>
              <a:off x="82" y="85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C8D0F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" name="Freeform 54"/>
            <p:cNvSpPr>
              <a:spLocks/>
            </p:cNvSpPr>
            <p:nvPr/>
          </p:nvSpPr>
          <p:spPr bwMode="auto">
            <a:xfrm>
              <a:off x="82" y="85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CCD8F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" name="Freeform 55"/>
            <p:cNvSpPr>
              <a:spLocks/>
            </p:cNvSpPr>
            <p:nvPr/>
          </p:nvSpPr>
          <p:spPr bwMode="auto">
            <a:xfrm>
              <a:off x="82" y="85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D0D8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" name="Freeform 56"/>
            <p:cNvSpPr>
              <a:spLocks/>
            </p:cNvSpPr>
            <p:nvPr/>
          </p:nvSpPr>
          <p:spPr bwMode="auto">
            <a:xfrm>
              <a:off x="82" y="85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D4DC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" name="Freeform 57"/>
            <p:cNvSpPr>
              <a:spLocks/>
            </p:cNvSpPr>
            <p:nvPr/>
          </p:nvSpPr>
          <p:spPr bwMode="auto">
            <a:xfrm>
              <a:off x="82" y="85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D8E0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" name="Freeform 58"/>
            <p:cNvSpPr>
              <a:spLocks/>
            </p:cNvSpPr>
            <p:nvPr/>
          </p:nvSpPr>
          <p:spPr bwMode="auto">
            <a:xfrm>
              <a:off x="82" y="86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DCE4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" name="Freeform 59"/>
            <p:cNvSpPr>
              <a:spLocks/>
            </p:cNvSpPr>
            <p:nvPr/>
          </p:nvSpPr>
          <p:spPr bwMode="auto">
            <a:xfrm>
              <a:off x="82" y="86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E0E8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" name="Freeform 60"/>
            <p:cNvSpPr>
              <a:spLocks/>
            </p:cNvSpPr>
            <p:nvPr/>
          </p:nvSpPr>
          <p:spPr bwMode="auto">
            <a:xfrm>
              <a:off x="82" y="86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E4E8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" name="Freeform 61"/>
            <p:cNvSpPr>
              <a:spLocks/>
            </p:cNvSpPr>
            <p:nvPr/>
          </p:nvSpPr>
          <p:spPr bwMode="auto">
            <a:xfrm>
              <a:off x="82" y="86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E8EC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" name="Freeform 62"/>
            <p:cNvSpPr>
              <a:spLocks/>
            </p:cNvSpPr>
            <p:nvPr/>
          </p:nvSpPr>
          <p:spPr bwMode="auto">
            <a:xfrm>
              <a:off x="82" y="86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ECF0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" name="Freeform 63"/>
            <p:cNvSpPr>
              <a:spLocks/>
            </p:cNvSpPr>
            <p:nvPr/>
          </p:nvSpPr>
          <p:spPr bwMode="auto">
            <a:xfrm>
              <a:off x="82" y="86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F0F4F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" name="Freeform 64"/>
            <p:cNvSpPr>
              <a:spLocks/>
            </p:cNvSpPr>
            <p:nvPr/>
          </p:nvSpPr>
          <p:spPr bwMode="auto">
            <a:xfrm>
              <a:off x="82" y="86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F4F4F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" name="Freeform 65"/>
            <p:cNvSpPr>
              <a:spLocks/>
            </p:cNvSpPr>
            <p:nvPr/>
          </p:nvSpPr>
          <p:spPr bwMode="auto">
            <a:xfrm>
              <a:off x="82" y="87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F8F8F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Text Box 68"/>
          <p:cNvSpPr txBox="1">
            <a:spLocks noChangeArrowheads="1"/>
          </p:cNvSpPr>
          <p:nvPr/>
        </p:nvSpPr>
        <p:spPr bwMode="auto">
          <a:xfrm>
            <a:off x="7315200" y="6575425"/>
            <a:ext cx="17526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000" dirty="0" smtClean="0"/>
              <a:t>EP</a:t>
            </a:r>
            <a:r>
              <a:rPr lang="en-US" altLang="en-US" sz="1000" baseline="0" dirty="0" smtClean="0"/>
              <a:t> Process Technology</a:t>
            </a:r>
            <a:endParaRPr lang="en-US" altLang="en-US" sz="1000" dirty="0"/>
          </a:p>
        </p:txBody>
      </p:sp>
      <p:pic>
        <p:nvPicPr>
          <p:cNvPr id="1028" name="Picture 6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52400"/>
            <a:ext cx="98107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30175" y="914400"/>
            <a:ext cx="8934450" cy="158750"/>
            <a:chOff x="82" y="787"/>
            <a:chExt cx="5628" cy="100"/>
          </a:xfrm>
        </p:grpSpPr>
        <p:sp>
          <p:nvSpPr>
            <p:cNvPr id="4099" name="Freeform 3"/>
            <p:cNvSpPr>
              <a:spLocks/>
            </p:cNvSpPr>
            <p:nvPr/>
          </p:nvSpPr>
          <p:spPr bwMode="auto">
            <a:xfrm>
              <a:off x="82" y="78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330A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0" name="Freeform 4"/>
            <p:cNvSpPr>
              <a:spLocks/>
            </p:cNvSpPr>
            <p:nvPr/>
          </p:nvSpPr>
          <p:spPr bwMode="auto">
            <a:xfrm>
              <a:off x="82" y="79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430B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1" name="Freeform 5"/>
            <p:cNvSpPr>
              <a:spLocks/>
            </p:cNvSpPr>
            <p:nvPr/>
          </p:nvSpPr>
          <p:spPr bwMode="auto">
            <a:xfrm>
              <a:off x="82" y="79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834B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2" name="Freeform 6"/>
            <p:cNvSpPr>
              <a:spLocks/>
            </p:cNvSpPr>
            <p:nvPr/>
          </p:nvSpPr>
          <p:spPr bwMode="auto">
            <a:xfrm>
              <a:off x="82" y="79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C38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3" name="Freeform 7"/>
            <p:cNvSpPr>
              <a:spLocks/>
            </p:cNvSpPr>
            <p:nvPr/>
          </p:nvSpPr>
          <p:spPr bwMode="auto">
            <a:xfrm>
              <a:off x="82" y="79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103C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4" name="Freeform 8"/>
            <p:cNvSpPr>
              <a:spLocks/>
            </p:cNvSpPr>
            <p:nvPr/>
          </p:nvSpPr>
          <p:spPr bwMode="auto">
            <a:xfrm>
              <a:off x="82" y="79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1440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5" name="Freeform 9"/>
            <p:cNvSpPr>
              <a:spLocks/>
            </p:cNvSpPr>
            <p:nvPr/>
          </p:nvSpPr>
          <p:spPr bwMode="auto">
            <a:xfrm>
              <a:off x="82" y="79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1844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6" name="Freeform 10"/>
            <p:cNvSpPr>
              <a:spLocks/>
            </p:cNvSpPr>
            <p:nvPr/>
          </p:nvSpPr>
          <p:spPr bwMode="auto">
            <a:xfrm>
              <a:off x="82" y="79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1C44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7" name="Freeform 11"/>
            <p:cNvSpPr>
              <a:spLocks/>
            </p:cNvSpPr>
            <p:nvPr/>
          </p:nvSpPr>
          <p:spPr bwMode="auto">
            <a:xfrm>
              <a:off x="82" y="79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2048B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82" y="80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244C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2" y="80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2850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82" y="80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2C54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82" y="805"/>
              <a:ext cx="5628" cy="1"/>
            </a:xfrm>
            <a:custGeom>
              <a:avLst/>
              <a:gdLst>
                <a:gd name="T0" fmla="*/ 0 w 5628"/>
                <a:gd name="T1" fmla="*/ 0 h 1"/>
                <a:gd name="T2" fmla="*/ 5627 w 5628"/>
                <a:gd name="T3" fmla="*/ 0 h 1"/>
                <a:gd name="T4" fmla="*/ 5627 w 5628"/>
                <a:gd name="T5" fmla="*/ 0 h 1"/>
                <a:gd name="T6" fmla="*/ 0 w 562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28" h="1">
                  <a:moveTo>
                    <a:pt x="0" y="0"/>
                  </a:moveTo>
                  <a:lnTo>
                    <a:pt x="5627" y="0"/>
                  </a:lnTo>
                  <a:lnTo>
                    <a:pt x="5627" y="0"/>
                  </a:lnTo>
                  <a:lnTo>
                    <a:pt x="0" y="0"/>
                  </a:lnTo>
                </a:path>
              </a:pathLst>
            </a:custGeom>
            <a:solidFill>
              <a:srgbClr val="3058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2" y="80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345CC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82" y="80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385CC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auto">
            <a:xfrm>
              <a:off x="82" y="80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3C60C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auto">
            <a:xfrm>
              <a:off x="82" y="80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4064C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auto">
            <a:xfrm>
              <a:off x="82" y="81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4468C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auto">
            <a:xfrm>
              <a:off x="82" y="81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486CC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auto">
            <a:xfrm>
              <a:off x="82" y="81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4C6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auto">
            <a:xfrm>
              <a:off x="82" y="81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5070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auto">
            <a:xfrm>
              <a:off x="82" y="81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5474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auto">
            <a:xfrm>
              <a:off x="82" y="81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5878D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auto">
            <a:xfrm>
              <a:off x="82" y="81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5C7CD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auto">
            <a:xfrm>
              <a:off x="82" y="81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607CD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auto">
            <a:xfrm>
              <a:off x="82" y="82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6480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82" y="82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6884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82" y="82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6C88D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82" y="82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708CD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82" y="82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7490D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82" y="82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7894D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82" y="82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7C94D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auto">
            <a:xfrm>
              <a:off x="82" y="83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8098D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82" y="83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849CD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82" y="83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88A0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82" y="83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8CA0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82" y="83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0A4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82" y="83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4A8E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82" y="83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8ACE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auto">
            <a:xfrm>
              <a:off x="82" y="83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CB0E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82" y="84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A0B4E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82" y="84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A4B4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82" y="84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A8B8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82" y="84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ACBC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82" y="84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B0C0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82" y="84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B4C4E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auto">
            <a:xfrm>
              <a:off x="82" y="84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B8C4E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auto">
            <a:xfrm>
              <a:off x="82" y="85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BCC8E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auto">
            <a:xfrm>
              <a:off x="82" y="851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C0CCE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auto">
            <a:xfrm>
              <a:off x="82" y="85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C4D0F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auto">
            <a:xfrm>
              <a:off x="82" y="85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C8D0F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auto">
            <a:xfrm>
              <a:off x="82" y="855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CCD8F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auto">
            <a:xfrm>
              <a:off x="82" y="85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D0D8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auto">
            <a:xfrm>
              <a:off x="82" y="85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D4DC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auto">
            <a:xfrm>
              <a:off x="82" y="859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D8E0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auto">
            <a:xfrm>
              <a:off x="82" y="86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DCE4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auto">
            <a:xfrm>
              <a:off x="82" y="862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E0E8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auto">
            <a:xfrm>
              <a:off x="82" y="863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E4E8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auto">
            <a:xfrm>
              <a:off x="82" y="864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E8EC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auto">
            <a:xfrm>
              <a:off x="82" y="866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ECF0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auto">
            <a:xfrm>
              <a:off x="82" y="867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F0F4F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auto">
            <a:xfrm>
              <a:off x="82" y="868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F4F4F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auto">
            <a:xfrm>
              <a:off x="82" y="870"/>
              <a:ext cx="5628" cy="17"/>
            </a:xfrm>
            <a:custGeom>
              <a:avLst/>
              <a:gdLst>
                <a:gd name="T0" fmla="*/ 0 w 5628"/>
                <a:gd name="T1" fmla="*/ 0 h 17"/>
                <a:gd name="T2" fmla="*/ 5627 w 5628"/>
                <a:gd name="T3" fmla="*/ 0 h 17"/>
                <a:gd name="T4" fmla="*/ 5627 w 5628"/>
                <a:gd name="T5" fmla="*/ 16 h 17"/>
                <a:gd name="T6" fmla="*/ 0 w 5628"/>
                <a:gd name="T7" fmla="*/ 16 h 17"/>
                <a:gd name="T8" fmla="*/ 0 w 5628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28" h="17">
                  <a:moveTo>
                    <a:pt x="0" y="0"/>
                  </a:moveTo>
                  <a:lnTo>
                    <a:pt x="5627" y="0"/>
                  </a:lnTo>
                  <a:lnTo>
                    <a:pt x="5627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F8F8F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163" name="Text Box 67"/>
          <p:cNvSpPr txBox="1">
            <a:spLocks noChangeArrowheads="1"/>
          </p:cNvSpPr>
          <p:nvPr/>
        </p:nvSpPr>
        <p:spPr bwMode="auto">
          <a:xfrm>
            <a:off x="6096000" y="212725"/>
            <a:ext cx="2971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Melter</a:t>
            </a:r>
            <a:r>
              <a:rPr lang="en-US" sz="2000" baseline="0" dirty="0" smtClean="0">
                <a:solidFill>
                  <a:schemeClr val="tx2"/>
                </a:solidFill>
                <a:latin typeface="Times New Roman" pitchFamily="18" charset="0"/>
              </a:rPr>
              <a:t> - Bushing COE</a:t>
            </a:r>
            <a:endParaRPr lang="en-US" sz="20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4164" name="Text Box 68"/>
          <p:cNvSpPr txBox="1">
            <a:spLocks noChangeArrowheads="1"/>
          </p:cNvSpPr>
          <p:nvPr/>
        </p:nvSpPr>
        <p:spPr bwMode="auto">
          <a:xfrm>
            <a:off x="7292184" y="6555838"/>
            <a:ext cx="168026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00" dirty="0" smtClean="0"/>
              <a:t>EPG Process</a:t>
            </a:r>
            <a:r>
              <a:rPr lang="en-US" sz="1000" baseline="0" dirty="0" smtClean="0"/>
              <a:t> Technology</a:t>
            </a:r>
            <a:endParaRPr lang="en-US" sz="1000" dirty="0"/>
          </a:p>
        </p:txBody>
      </p:sp>
      <p:pic>
        <p:nvPicPr>
          <p:cNvPr id="69" name="Picture 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52" y="76201"/>
            <a:ext cx="1103347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Text Box 68"/>
          <p:cNvSpPr txBox="1">
            <a:spLocks noChangeArrowheads="1"/>
          </p:cNvSpPr>
          <p:nvPr/>
        </p:nvSpPr>
        <p:spPr bwMode="auto">
          <a:xfrm>
            <a:off x="302103" y="6536135"/>
            <a:ext cx="89800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000" dirty="0" smtClean="0"/>
              <a:t>August</a:t>
            </a:r>
            <a:r>
              <a:rPr lang="en-US" sz="1000" baseline="0" dirty="0" smtClean="0"/>
              <a:t> 2014</a:t>
            </a:r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Breakout Modeling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Product: 33182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Spartanburg Line 3</a:t>
            </a:r>
          </a:p>
          <a:p>
            <a:endParaRPr lang="en-US" dirty="0"/>
          </a:p>
          <a:p>
            <a:r>
              <a:rPr lang="en-US" dirty="0" smtClean="0"/>
              <a:t>Nov. 30, 2014-Feb. 7, 2015</a:t>
            </a:r>
          </a:p>
          <a:p>
            <a:endParaRPr lang="en-US" dirty="0"/>
          </a:p>
          <a:p>
            <a:r>
              <a:rPr lang="en-US" sz="1400" dirty="0" smtClean="0"/>
              <a:t>Trent Logan</a:t>
            </a:r>
          </a:p>
        </p:txBody>
      </p:sp>
    </p:spTree>
    <p:extLst>
      <p:ext uri="{BB962C8B-B14F-4D97-AF65-F5344CB8AC3E}">
        <p14:creationId xmlns:p14="http://schemas.microsoft.com/office/powerpoint/2010/main" val="138460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r>
              <a:rPr lang="en-US" dirty="0" smtClean="0"/>
              <a:t>Model Results</a:t>
            </a:r>
          </a:p>
          <a:p>
            <a:r>
              <a:rPr lang="en-US" dirty="0" smtClean="0"/>
              <a:t>Summary</a:t>
            </a:r>
          </a:p>
          <a:p>
            <a:r>
              <a:rPr lang="en-US" dirty="0" smtClean="0"/>
              <a:t>Next Steps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17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Dataset comprised of product 33182</a:t>
            </a:r>
          </a:p>
          <a:p>
            <a:pPr lvl="1"/>
            <a:r>
              <a:rPr lang="en-US" dirty="0" smtClean="0"/>
              <a:t>Nov. 2014 - Feb. 2015</a:t>
            </a:r>
          </a:p>
          <a:p>
            <a:pPr lvl="1"/>
            <a:r>
              <a:rPr lang="en-US" dirty="0" smtClean="0"/>
              <a:t>6 runs</a:t>
            </a:r>
          </a:p>
          <a:p>
            <a:r>
              <a:rPr lang="en-US" dirty="0" smtClean="0"/>
              <a:t>Inputs</a:t>
            </a:r>
          </a:p>
          <a:p>
            <a:pPr lvl="1"/>
            <a:r>
              <a:rPr lang="en-US" dirty="0" smtClean="0"/>
              <a:t>Process variables up to laydown</a:t>
            </a:r>
          </a:p>
          <a:p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Breakouts</a:t>
            </a:r>
          </a:p>
        </p:txBody>
      </p:sp>
    </p:spTree>
    <p:extLst>
      <p:ext uri="{BB962C8B-B14F-4D97-AF65-F5344CB8AC3E}">
        <p14:creationId xmlns:p14="http://schemas.microsoft.com/office/powerpoint/2010/main" val="311567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 Time merge with breakout data.</a:t>
            </a:r>
          </a:p>
          <a:p>
            <a:pPr lvl="1"/>
            <a:r>
              <a:rPr lang="en-US" dirty="0" smtClean="0"/>
              <a:t>T0, T-5, T-10 CHP T-20, T-25, T-30</a:t>
            </a:r>
          </a:p>
          <a:p>
            <a:pPr lvl="1"/>
            <a:r>
              <a:rPr lang="en-US" dirty="0" smtClean="0"/>
              <a:t>Highlighted areas = highest interest</a:t>
            </a:r>
            <a:endParaRPr lang="en-US" dirty="0"/>
          </a:p>
        </p:txBody>
      </p:sp>
      <p:pic>
        <p:nvPicPr>
          <p:cNvPr id="1027" name="Picture 3" descr="C:\Users\logant\Desktop\2015-06-24 08_55_29-wvl-82d3pn1 - Remote Desktop Connection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4" t="3036" r="2187" b="12864"/>
          <a:stretch/>
        </p:blipFill>
        <p:spPr bwMode="auto">
          <a:xfrm>
            <a:off x="5867400" y="1731163"/>
            <a:ext cx="3086201" cy="248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logant\Desktop\2015-06-24 08_56_47-wvl-82d3pn1 - Remote Desktop Connection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69" r="77402" b="45494"/>
          <a:stretch/>
        </p:blipFill>
        <p:spPr bwMode="auto">
          <a:xfrm>
            <a:off x="685800" y="2895600"/>
            <a:ext cx="1248429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978809"/>
              </p:ext>
            </p:extLst>
          </p:nvPr>
        </p:nvGraphicFramePr>
        <p:xfrm>
          <a:off x="3124200" y="4419600"/>
          <a:ext cx="5486400" cy="1778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640305"/>
                <a:gridCol w="846095"/>
              </a:tblGrid>
              <a:tr h="355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Polymer Filter  Zone #4  Temperature  (Old A3394)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Spin Beam Zone 6 Temperature  (Old A3264)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Spin Beam Zone 4 Temperature  (Old A3262)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55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Spin Beam Zone 2 Temperature (Old A3260)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" name="Oval 3"/>
          <p:cNvSpPr/>
          <p:nvPr/>
        </p:nvSpPr>
        <p:spPr bwMode="auto">
          <a:xfrm>
            <a:off x="7772400" y="3505200"/>
            <a:ext cx="1181201" cy="709187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1143000" y="3380181"/>
            <a:ext cx="457200" cy="1649019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19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Boxcar time merge with breakout data.</a:t>
            </a:r>
          </a:p>
          <a:p>
            <a:pPr lvl="1"/>
            <a:r>
              <a:rPr lang="en-US" dirty="0" smtClean="0"/>
              <a:t>T0, T-5, </a:t>
            </a:r>
            <a:r>
              <a:rPr lang="en-US" dirty="0"/>
              <a:t>T-10 CHP T-20, T-25, </a:t>
            </a:r>
            <a:r>
              <a:rPr lang="en-US" dirty="0" smtClean="0"/>
              <a:t>T-30</a:t>
            </a:r>
          </a:p>
          <a:p>
            <a:pPr lvl="1"/>
            <a:r>
              <a:rPr lang="en-US" dirty="0" smtClean="0"/>
              <a:t>Highlighted areas = highest interest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2050" name="Picture 2" descr="C:\Users\logant\Desktop\2015-06-26 07_15_46-wvl-82d3pn1 - Remote Desktop Connection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60"/>
          <a:stretch/>
        </p:blipFill>
        <p:spPr bwMode="auto">
          <a:xfrm>
            <a:off x="5715000" y="1662953"/>
            <a:ext cx="3219450" cy="272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logant\Desktop\2015-06-26 07_16_32-wvl-82d3pn1 - Remote Desktop Connection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2" t="32728" r="68591" b="22607"/>
          <a:stretch/>
        </p:blipFill>
        <p:spPr bwMode="auto">
          <a:xfrm>
            <a:off x="551329" y="3285511"/>
            <a:ext cx="1828800" cy="292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479080"/>
              </p:ext>
            </p:extLst>
          </p:nvPr>
        </p:nvGraphicFramePr>
        <p:xfrm>
          <a:off x="3200400" y="4648200"/>
          <a:ext cx="5626100" cy="18288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758461"/>
                <a:gridCol w="867639"/>
              </a:tblGrid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Boxcar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Spin Beam Zone 6 Temperature  (Old A3264)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Polymer Filter Zone #2 Temperature  (Old A3392)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Polymer Filter  Zone #4  Temperature  (Old A3394)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Quench Air Drybulb Temperature (Old A3275)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Spin Beam Zone 6 Temperature  (Old A3264)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 bwMode="auto">
          <a:xfrm>
            <a:off x="7772400" y="3505200"/>
            <a:ext cx="1181201" cy="709187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1295399" y="3657601"/>
            <a:ext cx="685801" cy="1524000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33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Overview-Process Area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94545"/>
            <a:ext cx="8686800" cy="1306807"/>
          </a:xfrm>
          <a:prstGeom prst="rect">
            <a:avLst/>
          </a:prstGeo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012210"/>
              </p:ext>
            </p:extLst>
          </p:nvPr>
        </p:nvGraphicFramePr>
        <p:xfrm>
          <a:off x="76200" y="1828801"/>
          <a:ext cx="8991598" cy="2661014"/>
        </p:xfrm>
        <a:graphic>
          <a:graphicData uri="http://schemas.openxmlformats.org/drawingml/2006/table">
            <a:tbl>
              <a:tblPr/>
              <a:tblGrid>
                <a:gridCol w="1069112"/>
                <a:gridCol w="1051069"/>
                <a:gridCol w="1005958"/>
                <a:gridCol w="1046558"/>
                <a:gridCol w="1025131"/>
                <a:gridCol w="1005958"/>
                <a:gridCol w="1281131"/>
                <a:gridCol w="1506681"/>
              </a:tblGrid>
              <a:tr h="1360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04115L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04115B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040090L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040090B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040090L2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040090B2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33182L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33182B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End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Quench Air Duct Dewpoint Relative Humidity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Air Temperature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T-40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 Zone #4  Temperature  (Old A3394)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6 Temperature  (Old A3264)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5-6 Mid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Exit Air Temperature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T-50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6 Temperature  (Old A3264)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Zone #2 Temperature  (Old A3392)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136009"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Quench Air Inlet Air Temperature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Exit Air Temperature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Exit Air Temperature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Exit Air Temperature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T-40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T-50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4 Temperature  (Old A3262)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 Zone #4  Temperature  (Old A3394)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Quench Air Duct Dewpoint Relative Humidity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5-6 Mid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Beam Pressure Core Beam 5-6 End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T-45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Exit Air Temperature T-50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Spinning West Inlet Maniflod Temperature (Old A3252)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Quench Air Drybulb Temperature (Old A3275)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Dowtherm Vacuum Primary Pressure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Air Temperature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T-20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Dry Air Chill Water Inlet Temp T-45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2 Temperature (Old A3260)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6 Temperature  (Old A3264)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5-6 Mid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Hopper Exit Temperature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Beam Pressure Core Beam 5-6 End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Dry Air Chill Water Inlet Temp T-45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Exit Air TemperatureT-40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Extruder Zone 3 Temperature (Old A3237)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STP003CHP_TI212 Chip Dryer Chip Temperature (Old A3227) T-20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Inlet Air Pressure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Exit Air Temperature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Stretch Nozzle Air Pressure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Air Temperature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Beam Pressure Core Beam 5-6 End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6 Temperature  (Old A3264)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7 Temperature  (Old A3253)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Beam Pressure Sheath Beam 5-6 End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Air Temperature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Beam Pressure Core Beam 5-6 End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Inlet Air Pressure T-40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 Zone #4  Temperature  (Old A3394)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 Zone #4  Temperature  (Old A3394)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End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5-6 Mid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Dry Air Chill Water Inlet Temp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Pack Pressure Core Beam 7-8 Mid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Dry Air Chill Water Inlet Temp T-50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Scraper Level Control T-45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Extruder Zone 5 Temperature (Old A3239)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Pre-Spin Pump Pressure (Old A3280) Selectible PV for EXT_PIC101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65444"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Dowtherm Vacuum Primary Pressure T-5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Beam Pressure Sheath Beam 5-6 End 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Exit Air Temperature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Spinning West Inlet Manifold Temperature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Sheath Chip Dryer Air Temperature T-20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Chip Dryer Inlet Air Flow Differential T-40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5 Temperature  (Old A3263) T-10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Zone #3 Temperature  (Old A3393) T0</a:t>
                      </a:r>
                    </a:p>
                  </a:txBody>
                  <a:tcPr marL="3097" marR="3097" marT="309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0" y="1281953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All SPT models, all lines, historical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01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 3 Modeling Overview-Process Area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2990777"/>
              </p:ext>
            </p:extLst>
          </p:nvPr>
        </p:nvGraphicFramePr>
        <p:xfrm>
          <a:off x="304800" y="1828800"/>
          <a:ext cx="8420100" cy="2853532"/>
        </p:xfrm>
        <a:graphic>
          <a:graphicData uri="http://schemas.openxmlformats.org/drawingml/2006/table">
            <a:tbl>
              <a:tblPr/>
              <a:tblGrid>
                <a:gridCol w="3869431"/>
                <a:gridCol w="4550669"/>
              </a:tblGrid>
              <a:tr h="2594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33182L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33182B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 Zone #4  Temperature  (Old A3394) T-10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6 Temperature  (Old A3264) T-10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6 Temperature  (Old A3264) T-5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Zone #2 Temperature  (Old A3392) T0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4 Temperature  (Old A3262) T-10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 Zone #4  Temperature  (Old A3394) T-10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Spinning West Inlet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Maniflod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Temperature (Old A3252) T-5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Quench Air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Drybulb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Temperature (Old A3275) T-5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2 Temperature (Old A3260) T0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6 Temperature  (Old A3264) T-5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Extruder Zone 3 Temperature (Old A3237) T0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STP003CHP_TI212 Chip Dryer Chip Temperature (Old A3227) T-20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6 Temperature  (Old A3264) T-10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7 Temperature  (Old A3253) T-10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 Zone #4  Temperature  (Old A3394) T0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 Zone #4  Temperature  (Old A3394) T-5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Extruder Zone 5 Temperature (Old A3239) T-5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Pre-Spin Pump Pressure (Old A3280) Selectible PV for EXT_PIC101 T-5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2594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Spin Beam Zone 5 Temperature  (Old A3263) T-10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Polymer Filter Zone #3 Temperature  (Old A3393) T0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029200"/>
            <a:ext cx="8153400" cy="122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7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Both models trained well with high R</a:t>
            </a:r>
            <a:r>
              <a:rPr lang="en-US" baseline="30000" dirty="0" smtClean="0"/>
              <a:t>2 </a:t>
            </a:r>
            <a:r>
              <a:rPr lang="en-US" dirty="0" smtClean="0"/>
              <a:t>values &gt;0.8.  </a:t>
            </a:r>
          </a:p>
          <a:p>
            <a:r>
              <a:rPr lang="en-US" dirty="0" smtClean="0"/>
              <a:t>Focus on those high ranking variables</a:t>
            </a:r>
          </a:p>
          <a:p>
            <a:r>
              <a:rPr lang="en-US" dirty="0" smtClean="0"/>
              <a:t>Data suggests temperature is critical, linked to viscosity</a:t>
            </a:r>
          </a:p>
          <a:p>
            <a:r>
              <a:rPr lang="en-US" dirty="0" smtClean="0"/>
              <a:t>Next steps- plant requests</a:t>
            </a:r>
          </a:p>
          <a:p>
            <a:r>
              <a:rPr lang="en-US" dirty="0" smtClean="0"/>
              <a:t>Results are valid for the dataset tested and may vary with new or subsequent datasets.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69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lter COE">
  <a:themeElements>
    <a:clrScheme name="MelterCOE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elterCOE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0"/>
          </a:schemeClr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0"/>
          </a:schemeClr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elterCO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lterCO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elterCOE">
  <a:themeElements>
    <a:clrScheme name="MelterCOE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elterCOE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elterCO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lterCO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lterCO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Melter COE</Template>
  <TotalTime>12665</TotalTime>
  <Words>1090</Words>
  <Application>Microsoft Office PowerPoint</Application>
  <PresentationFormat>On-screen Show (4:3)</PresentationFormat>
  <Paragraphs>168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Melter COE</vt:lpstr>
      <vt:lpstr>MelterCOE</vt:lpstr>
      <vt:lpstr>Breakout Modeling  Product: 33182</vt:lpstr>
      <vt:lpstr>Agenda</vt:lpstr>
      <vt:lpstr>Overview</vt:lpstr>
      <vt:lpstr>Model Results</vt:lpstr>
      <vt:lpstr>Model Results</vt:lpstr>
      <vt:lpstr>Modeling Overview-Process Area</vt:lpstr>
      <vt:lpstr>Line 3 Modeling Overview-Process Area</vt:lpstr>
      <vt:lpstr>Summary</vt:lpstr>
    </vt:vector>
  </TitlesOfParts>
  <Company>Johns Manville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04115 Breakout Modeling</dc:title>
  <dc:creator>Trent Logan</dc:creator>
  <cp:lastModifiedBy>Trent Logan</cp:lastModifiedBy>
  <cp:revision>56</cp:revision>
  <dcterms:created xsi:type="dcterms:W3CDTF">2014-08-14T17:56:07Z</dcterms:created>
  <dcterms:modified xsi:type="dcterms:W3CDTF">2015-11-12T17:06:42Z</dcterms:modified>
</cp:coreProperties>
</file>